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yutro Sans Heavy" charset="1" panose="00000000000000000000"/>
      <p:regular r:id="rId16"/>
    </p:embeddedFont>
    <p:embeddedFont>
      <p:font typeface="Nyutro Sans" charset="1" panose="00000000000000000000"/>
      <p:regular r:id="rId17"/>
    </p:embeddedFont>
    <p:embeddedFont>
      <p:font typeface="Nyutro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0"/>
            </a:xfrm>
            <a:custGeom>
              <a:avLst/>
              <a:gdLst/>
              <a:ahLst/>
              <a:cxnLst/>
              <a:rect r="r" b="b" t="t" l="l"/>
              <a:pathLst>
                <a:path h="2782840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6725825"/>
            <a:chOff x="0" y="0"/>
            <a:chExt cx="13017500" cy="8967767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3017500" cy="81375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5000"/>
                </a:lnSpc>
              </a:pPr>
              <a:r>
                <a:rPr lang="en-US" b="true" sz="15000" spc="-150">
                  <a:solidFill>
                    <a:srgbClr val="D8E8C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SDG 15: Life on Land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8234342"/>
              <a:ext cx="91821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Presented by Shashravat Ejjagiri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37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198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72950" y="4248150"/>
            <a:ext cx="1884131" cy="890680"/>
          </a:xfrm>
          <a:custGeom>
            <a:avLst/>
            <a:gdLst/>
            <a:ahLst/>
            <a:cxnLst/>
            <a:rect r="r" b="b" t="t" l="l"/>
            <a:pathLst>
              <a:path h="890680" w="1884131">
                <a:moveTo>
                  <a:pt x="0" y="0"/>
                </a:moveTo>
                <a:lnTo>
                  <a:pt x="1884131" y="0"/>
                </a:lnTo>
                <a:lnTo>
                  <a:pt x="1884131" y="890680"/>
                </a:lnTo>
                <a:lnTo>
                  <a:pt x="0" y="89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</a:pPr>
            <a:r>
              <a:rPr lang="en-US" b="true" sz="9000" spc="-89">
                <a:solidFill>
                  <a:srgbClr val="D8E8C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Agenda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419850" y="6038850"/>
            <a:ext cx="5448300" cy="1917700"/>
            <a:chOff x="0" y="0"/>
            <a:chExt cx="7264400" cy="2556933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Deforestation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3779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Forest degradation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Climate impact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038850"/>
            <a:ext cx="5448300" cy="1917700"/>
            <a:chOff x="0" y="0"/>
            <a:chExt cx="7264400" cy="255693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7264400" cy="11811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Biodiversity Loss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377950"/>
              <a:ext cx="72644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Extinction crisis</a:t>
              </a:r>
            </a:p>
            <a:p>
              <a:pPr algn="l" marL="539749" indent="-269875" lvl="1">
                <a:lnSpc>
                  <a:spcPts val="3499"/>
                </a:lnSpc>
                <a:buFont typeface="Arial"/>
                <a:buChar char="•"/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Habitat destruction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5382357"/>
            <a:chOff x="0" y="0"/>
            <a:chExt cx="9182100" cy="71764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182100" cy="449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D8E8C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Deforestation: A Global Emergency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97492"/>
              <a:ext cx="9182100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Deforestation threatens ecosystems and </a:t>
              </a:r>
              <a:r>
                <a:rPr lang="en-US" b="true" sz="2499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displaces wildlife</a:t>
              </a: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rapidly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708525"/>
              <a:ext cx="91821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Understanding its impact on biodiversity and climate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-588019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B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D8E8C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Causes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2064385"/>
            <a:chOff x="0" y="0"/>
            <a:chExt cx="4805315" cy="275251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8575"/>
              <a:ext cx="4805315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Agriculture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98933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Expanding crop production demands land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2064385"/>
            <a:chOff x="0" y="0"/>
            <a:chExt cx="4042139" cy="275251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28575"/>
              <a:ext cx="4042139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Logging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8933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Unsustainable timber extraction harms ecosystems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2064385"/>
            <a:chOff x="0" y="0"/>
            <a:chExt cx="4042139" cy="275251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28575"/>
              <a:ext cx="4042139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Mining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98933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Resource extraction disrupts habitats significantly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626235"/>
            <a:chOff x="0" y="0"/>
            <a:chExt cx="4033431" cy="216831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28575"/>
              <a:ext cx="4033431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Urbanization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98933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Expanding cities encroach on forests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6886575" cy="4944207"/>
            <a:chOff x="0" y="0"/>
            <a:chExt cx="9182100" cy="65922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9182100" cy="449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 strike="noStrike" u="none">
                  <a:solidFill>
                    <a:srgbClr val="D8E8C8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Biodiversity Loss and Its Consequences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97492"/>
              <a:ext cx="91821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Many species are disappearing every year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708525"/>
              <a:ext cx="9182100" cy="1285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</a:pPr>
              <a:r>
                <a:rPr lang="en-US" b="true" sz="300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Understanding the urgent crisis of extinction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96400" y="-588019"/>
            <a:ext cx="9442510" cy="7522219"/>
            <a:chOff x="0" y="0"/>
            <a:chExt cx="3546545" cy="28252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46545" cy="2825296"/>
            </a:xfrm>
            <a:custGeom>
              <a:avLst/>
              <a:gdLst/>
              <a:ahLst/>
              <a:cxnLst/>
              <a:rect r="r" b="b" t="t" l="l"/>
              <a:pathLst>
                <a:path h="2825296" w="3546545">
                  <a:moveTo>
                    <a:pt x="3522299" y="155341"/>
                  </a:moveTo>
                  <a:lnTo>
                    <a:pt x="3411722" y="31728"/>
                  </a:lnTo>
                  <a:cubicBezTo>
                    <a:pt x="3393661" y="11539"/>
                    <a:pt x="3367855" y="0"/>
                    <a:pt x="3340767" y="0"/>
                  </a:cubicBezTo>
                  <a:lnTo>
                    <a:pt x="205781" y="10"/>
                  </a:lnTo>
                  <a:cubicBezTo>
                    <a:pt x="178693" y="10"/>
                    <a:pt x="152888" y="11550"/>
                    <a:pt x="134828" y="31739"/>
                  </a:cubicBezTo>
                  <a:lnTo>
                    <a:pt x="24247" y="155355"/>
                  </a:lnTo>
                  <a:cubicBezTo>
                    <a:pt x="8634" y="172808"/>
                    <a:pt x="1" y="195404"/>
                    <a:pt x="0" y="218821"/>
                  </a:cubicBezTo>
                  <a:lnTo>
                    <a:pt x="0" y="2606484"/>
                  </a:lnTo>
                  <a:cubicBezTo>
                    <a:pt x="0" y="2629903"/>
                    <a:pt x="8633" y="2652501"/>
                    <a:pt x="24247" y="2669956"/>
                  </a:cubicBezTo>
                  <a:lnTo>
                    <a:pt x="134824" y="2793567"/>
                  </a:lnTo>
                  <a:cubicBezTo>
                    <a:pt x="152885" y="2813756"/>
                    <a:pt x="178690" y="2825296"/>
                    <a:pt x="205778" y="2825296"/>
                  </a:cubicBezTo>
                  <a:lnTo>
                    <a:pt x="3340764" y="2825287"/>
                  </a:lnTo>
                  <a:cubicBezTo>
                    <a:pt x="3367852" y="2825287"/>
                    <a:pt x="3393657" y="2813747"/>
                    <a:pt x="3411717" y="2793558"/>
                  </a:cubicBezTo>
                  <a:lnTo>
                    <a:pt x="3522298" y="2669943"/>
                  </a:lnTo>
                  <a:cubicBezTo>
                    <a:pt x="3537912" y="2652488"/>
                    <a:pt x="3546545" y="2629890"/>
                    <a:pt x="3546545" y="2606471"/>
                  </a:cubicBezTo>
                  <a:lnTo>
                    <a:pt x="3546545" y="218812"/>
                  </a:lnTo>
                  <a:cubicBezTo>
                    <a:pt x="3546545" y="195393"/>
                    <a:pt x="3537913" y="172796"/>
                    <a:pt x="3522299" y="155341"/>
                  </a:cubicBezTo>
                  <a:close/>
                </a:path>
              </a:pathLst>
            </a:custGeom>
            <a:blipFill>
              <a:blip r:embed="rId2"/>
              <a:stretch>
                <a:fillRect l="-181" t="0" r="-18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B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D8E8C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Drivers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879600"/>
            <a:chOff x="0" y="0"/>
            <a:chExt cx="4805315" cy="250613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Habitat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Loss of natural environments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879600"/>
            <a:chOff x="0" y="0"/>
            <a:chExt cx="4042139" cy="25061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Climate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Global temperature fluctuations rise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879600"/>
            <a:chOff x="0" y="0"/>
            <a:chExt cx="4042139" cy="250613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Pollution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Contamination of ecosystems occurs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3003550"/>
            <a:chOff x="0" y="0"/>
            <a:chExt cx="4033431" cy="40047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2095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Overexploitation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241550"/>
              <a:ext cx="4033431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Unsustainable resource extraction impacts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B4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D8E8C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Sustainable Land Management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B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056138" cy="1650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49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1056138" cy="16506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9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B4D19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D8E8C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Sustainable Strategies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2065179"/>
            <a:chOff x="0" y="0"/>
            <a:chExt cx="4805315" cy="275357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8575"/>
              <a:ext cx="4805315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Reforestation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989330"/>
              <a:ext cx="4042139" cy="1764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56"/>
                </a:lnSpc>
              </a:pPr>
              <a:r>
                <a:rPr lang="en-US" sz="2468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Restoring forests to combat climate change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2065179"/>
            <a:chOff x="0" y="0"/>
            <a:chExt cx="4042139" cy="2753572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28575"/>
              <a:ext cx="4042139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Agriculture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89330"/>
              <a:ext cx="4042139" cy="1764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sz="2468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Practices that enhance soil health sustainably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2065179"/>
            <a:chOff x="0" y="0"/>
            <a:chExt cx="4042139" cy="2753572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28575"/>
              <a:ext cx="4042139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Management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989330"/>
              <a:ext cx="4042139" cy="1764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sz="2468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Empowering communities for resource conservation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2065179"/>
            <a:chOff x="0" y="0"/>
            <a:chExt cx="4033431" cy="2753572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28575"/>
              <a:ext cx="4033431" cy="852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15"/>
                </a:lnSpc>
              </a:pPr>
              <a:r>
                <a:rPr lang="en-US" b="true" sz="4350" spc="-43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Ecotourism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989330"/>
              <a:ext cx="4033431" cy="1764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56"/>
                </a:lnSpc>
                <a:spcBef>
                  <a:spcPct val="0"/>
                </a:spcBef>
              </a:pPr>
              <a:r>
                <a:rPr lang="en-US" sz="2468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Promoting nature while supporting local economies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D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5448300" cy="8953500"/>
            <a:chOff x="0" y="0"/>
            <a:chExt cx="1069758" cy="1757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758" cy="1757994"/>
            </a:xfrm>
            <a:custGeom>
              <a:avLst/>
              <a:gdLst/>
              <a:ahLst/>
              <a:cxnLst/>
              <a:rect r="r" b="b" t="t" l="l"/>
              <a:pathLst>
                <a:path h="1757994" w="1069758">
                  <a:moveTo>
                    <a:pt x="35524" y="0"/>
                  </a:moveTo>
                  <a:lnTo>
                    <a:pt x="1034234" y="0"/>
                  </a:lnTo>
                  <a:cubicBezTo>
                    <a:pt x="1053853" y="0"/>
                    <a:pt x="1069758" y="15905"/>
                    <a:pt x="1069758" y="35524"/>
                  </a:cubicBezTo>
                  <a:lnTo>
                    <a:pt x="1069758" y="1722470"/>
                  </a:lnTo>
                  <a:cubicBezTo>
                    <a:pt x="1069758" y="1742089"/>
                    <a:pt x="1053853" y="1757994"/>
                    <a:pt x="1034234" y="1757994"/>
                  </a:cubicBezTo>
                  <a:lnTo>
                    <a:pt x="35524" y="1757994"/>
                  </a:lnTo>
                  <a:cubicBezTo>
                    <a:pt x="15905" y="1757994"/>
                    <a:pt x="0" y="1742089"/>
                    <a:pt x="0" y="1722470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solidFill>
              <a:srgbClr val="01370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69758" cy="1767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666750"/>
            <a:ext cx="5448300" cy="8953500"/>
            <a:chOff x="0" y="0"/>
            <a:chExt cx="1069758" cy="17579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9758" cy="1757994"/>
            </a:xfrm>
            <a:custGeom>
              <a:avLst/>
              <a:gdLst/>
              <a:ahLst/>
              <a:cxnLst/>
              <a:rect r="r" b="b" t="t" l="l"/>
              <a:pathLst>
                <a:path h="1757994" w="1069758">
                  <a:moveTo>
                    <a:pt x="35524" y="0"/>
                  </a:moveTo>
                  <a:lnTo>
                    <a:pt x="1034234" y="0"/>
                  </a:lnTo>
                  <a:cubicBezTo>
                    <a:pt x="1053853" y="0"/>
                    <a:pt x="1069758" y="15905"/>
                    <a:pt x="1069758" y="35524"/>
                  </a:cubicBezTo>
                  <a:lnTo>
                    <a:pt x="1069758" y="1722470"/>
                  </a:lnTo>
                  <a:cubicBezTo>
                    <a:pt x="1069758" y="1742089"/>
                    <a:pt x="1053853" y="1757994"/>
                    <a:pt x="1034234" y="1757994"/>
                  </a:cubicBezTo>
                  <a:lnTo>
                    <a:pt x="35524" y="1757994"/>
                  </a:lnTo>
                  <a:cubicBezTo>
                    <a:pt x="15905" y="1757994"/>
                    <a:pt x="0" y="1742089"/>
                    <a:pt x="0" y="1722470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solidFill>
              <a:srgbClr val="64A12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69758" cy="1767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666750"/>
            <a:ext cx="5448300" cy="8953500"/>
            <a:chOff x="0" y="0"/>
            <a:chExt cx="1069758" cy="17579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758" cy="1757994"/>
            </a:xfrm>
            <a:custGeom>
              <a:avLst/>
              <a:gdLst/>
              <a:ahLst/>
              <a:cxnLst/>
              <a:rect r="r" b="b" t="t" l="l"/>
              <a:pathLst>
                <a:path h="1757994" w="1069758">
                  <a:moveTo>
                    <a:pt x="35524" y="0"/>
                  </a:moveTo>
                  <a:lnTo>
                    <a:pt x="1034234" y="0"/>
                  </a:lnTo>
                  <a:cubicBezTo>
                    <a:pt x="1053853" y="0"/>
                    <a:pt x="1069758" y="15905"/>
                    <a:pt x="1069758" y="35524"/>
                  </a:cubicBezTo>
                  <a:lnTo>
                    <a:pt x="1069758" y="1722470"/>
                  </a:lnTo>
                  <a:cubicBezTo>
                    <a:pt x="1069758" y="1742089"/>
                    <a:pt x="1053853" y="1757994"/>
                    <a:pt x="1034234" y="1757994"/>
                  </a:cubicBezTo>
                  <a:lnTo>
                    <a:pt x="35524" y="1757994"/>
                  </a:lnTo>
                  <a:cubicBezTo>
                    <a:pt x="15905" y="1757994"/>
                    <a:pt x="0" y="1742089"/>
                    <a:pt x="0" y="1722470"/>
                  </a:cubicBezTo>
                  <a:lnTo>
                    <a:pt x="0" y="35524"/>
                  </a:lnTo>
                  <a:cubicBezTo>
                    <a:pt x="0" y="15905"/>
                    <a:pt x="15905" y="0"/>
                    <a:pt x="35524" y="0"/>
                  </a:cubicBezTo>
                  <a:close/>
                </a:path>
              </a:pathLst>
            </a:custGeom>
            <a:solidFill>
              <a:srgbClr val="01370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69758" cy="1767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72756" y="4698023"/>
            <a:ext cx="4848225" cy="1417968"/>
            <a:chOff x="0" y="0"/>
            <a:chExt cx="6464300" cy="189062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295840"/>
              <a:ext cx="6464300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Protected area coverage worldwide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19050"/>
              <a:ext cx="6464300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00"/>
                </a:lnSpc>
              </a:pPr>
              <a:r>
                <a:rPr lang="en-US" b="true" sz="6000" strike="noStrike" u="none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15%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20351" y="4698023"/>
            <a:ext cx="4847298" cy="1417968"/>
            <a:chOff x="0" y="0"/>
            <a:chExt cx="6463064" cy="1890624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1295840"/>
              <a:ext cx="6463064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Species at risk of extinction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19050"/>
              <a:ext cx="6463064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00"/>
                </a:lnSpc>
              </a:pPr>
              <a:r>
                <a:rPr lang="en-US" b="true" sz="600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1 million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7019" y="4698023"/>
            <a:ext cx="4847298" cy="1417968"/>
            <a:chOff x="0" y="0"/>
            <a:chExt cx="6463064" cy="1890624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1295840"/>
              <a:ext cx="6463064" cy="594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D8E8C8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Forest cover loss globally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-19050"/>
              <a:ext cx="6463064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000"/>
                </a:lnSpc>
              </a:pPr>
              <a:r>
                <a:rPr lang="en-US" b="true" sz="6000">
                  <a:solidFill>
                    <a:srgbClr val="D8E8C8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420 million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439861" y="33528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13945215" y="33528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8192115" y="3352800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B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97750"/>
            <a:ext cx="6886575" cy="222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trike="noStrike" u="none">
                <a:solidFill>
                  <a:srgbClr val="1B4D19"/>
                </a:solidFill>
                <a:latin typeface="Nyutro Sans"/>
                <a:ea typeface="Nyutro Sans"/>
                <a:cs typeface="Nyutro Sans"/>
                <a:sym typeface="Nyutro Sans"/>
              </a:rPr>
              <a:t>Together, we can make a sustainable impact by: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D8E8C8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Planting trees</a:t>
            </a:r>
            <a:r>
              <a:rPr lang="en-US" sz="2499" strike="noStrike" u="none">
                <a:solidFill>
                  <a:srgbClr val="D8E8C8"/>
                </a:solidFill>
                <a:latin typeface="Nyutro Sans"/>
                <a:ea typeface="Nyutro Sans"/>
                <a:cs typeface="Nyutro Sans"/>
                <a:sym typeface="Nyutro Sans"/>
              </a:rPr>
              <a:t> in local communities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1B4D19"/>
                </a:solidFill>
                <a:latin typeface="Nyutro Sans"/>
                <a:ea typeface="Nyutro Sans"/>
                <a:cs typeface="Nyutro Sans"/>
                <a:sym typeface="Nyutro Sans"/>
              </a:rPr>
              <a:t>Supporting </a:t>
            </a:r>
            <a:r>
              <a:rPr lang="en-US" b="true" sz="2499" strike="noStrike" u="none">
                <a:solidFill>
                  <a:srgbClr val="1B4D19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conservation</a:t>
            </a:r>
            <a:r>
              <a:rPr lang="en-US" sz="2499" strike="noStrike" u="none">
                <a:solidFill>
                  <a:srgbClr val="1B4D19"/>
                </a:solidFill>
                <a:latin typeface="Nyutro Sans"/>
                <a:ea typeface="Nyutro Sans"/>
                <a:cs typeface="Nyutro Sans"/>
                <a:sym typeface="Nyutro Sans"/>
              </a:rPr>
              <a:t> initiatives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1B4D19"/>
                </a:solidFill>
                <a:latin typeface="Nyutro Sans"/>
                <a:ea typeface="Nyutro Sans"/>
                <a:cs typeface="Nyutro Sans"/>
                <a:sym typeface="Nyutro Sans"/>
              </a:rPr>
              <a:t>Advocating for </a:t>
            </a:r>
            <a:r>
              <a:rPr lang="en-US" b="true" sz="2499" strike="noStrike" u="none">
                <a:solidFill>
                  <a:srgbClr val="1B4D19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sustainable practices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1B4D19"/>
                </a:solidFill>
                <a:latin typeface="Nyutro Sans"/>
                <a:ea typeface="Nyutro Sans"/>
                <a:cs typeface="Nyutro Sans"/>
                <a:sym typeface="Nyutro Sans"/>
              </a:rPr>
              <a:t>Educating others on </a:t>
            </a:r>
            <a:r>
              <a:rPr lang="en-US" b="true" sz="2499" strike="noStrike" u="none">
                <a:solidFill>
                  <a:srgbClr val="1B4D19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biodiversity importance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D8E8C8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58" r="0" b="-25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DAHA2M1WpZU</dc:identifier>
  <dcterms:modified xsi:type="dcterms:W3CDTF">2011-08-01T06:04:30Z</dcterms:modified>
  <cp:revision>1</cp:revision>
  <dc:title>Non Text Magic Studio Magic Design for Presentations L&amp;P</dc:title>
</cp:coreProperties>
</file>